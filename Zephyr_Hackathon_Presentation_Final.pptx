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232A37"/>
                </a:solidFill>
                <a:latin typeface="Aptos"/>
              </a:defRPr>
            </a:pPr>
            <a:r>
              <a:t>ZEPHYR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0">
                <a:solidFill>
                  <a:srgbClr val="5C6574"/>
                </a:solidFill>
                <a:latin typeface="Aptos"/>
              </a:defRPr>
            </a:pPr>
            <a:r>
              <a:t>Student Wellbeing &amp; Productivity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72768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32A37"/>
                </a:solidFill>
                <a:latin typeface="Aptos"/>
              </a:defRPr>
            </a:pPr>
            <a:r>
              <a:t>Smart planning, collaborative study and campus services in one student-centered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14600"/>
            <a:ext cx="3401568" cy="1417320"/>
          </a:xfrm>
          <a:prstGeom prst="roundRect">
            <a:avLst/>
          </a:prstGeom>
          <a:solidFill>
            <a:srgbClr val="E5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74320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32A37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3127248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574"/>
                </a:solidFill>
                <a:latin typeface="Aptos"/>
              </a:defRPr>
            </a:pPr>
            <a:r>
              <a:t>Tasks • routines • goals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2514600"/>
            <a:ext cx="3401568" cy="1417320"/>
          </a:xfrm>
          <a:prstGeom prst="roundRect">
            <a:avLst/>
          </a:prstGeom>
          <a:solidFill>
            <a:srgbClr val="E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274320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32A37"/>
                </a:solidFill>
                <a:latin typeface="Aptos"/>
              </a:defRPr>
            </a:pPr>
            <a:r>
              <a:t>COLLABORATE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3127248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574"/>
                </a:solidFill>
                <a:latin typeface="Aptos"/>
              </a:defRPr>
            </a:pPr>
            <a:r>
              <a:t>Encrypted study rooms • Pomodoro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9016" y="2514600"/>
            <a:ext cx="3401568" cy="1417320"/>
          </a:xfrm>
          <a:prstGeom prst="roundRect">
            <a:avLst/>
          </a:prstGeom>
          <a:solidFill>
            <a:srgbClr val="E7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4" y="274320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32A37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4" y="3127248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574"/>
                </a:solidFill>
                <a:latin typeface="Aptos"/>
              </a:defRPr>
            </a:pPr>
            <a:r>
              <a:t>Campus pods • mock booking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4340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32A37"/>
                </a:solidFill>
                <a:latin typeface="Aptos"/>
              </a:defRPr>
            </a:pPr>
            <a:r>
              <a:t>Built with Kotlin + Jetpack Compose (Material 3) and a local Python FastAPI + SQLite backend.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074920"/>
            <a:ext cx="105156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2486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5C6574"/>
                </a:solidFill>
                <a:latin typeface="Aptos"/>
              </a:defRPr>
            </a:pPr>
            <a:r>
              <a:t>Privacy-focused  •  Role-based access  •  Gamified focus rewards  •  Android APK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59893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C6574"/>
                </a:solidFill>
                <a:latin typeface="Aptos"/>
              </a:defRPr>
            </a:pPr>
            <a:r>
              <a:t>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232A37"/>
                </a:solidFill>
                <a:latin typeface="Aptos"/>
              </a:defRPr>
            </a:pPr>
            <a:r>
              <a:t>The Problem → One Student-Centered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96112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C6574"/>
                </a:solidFill>
                <a:latin typeface="Aptos"/>
              </a:defRPr>
            </a:pPr>
            <a:r>
              <a:t>Zephyr brings fragmented student workflows into one engaging ecosystem.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383280" cy="4160520"/>
          </a:xfrm>
          <a:prstGeom prst="roundRect">
            <a:avLst/>
          </a:prstGeom>
          <a:solidFill>
            <a:srgbClr val="E5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563624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32A37"/>
                </a:solidFill>
                <a:latin typeface="Aptos"/>
              </a:defRPr>
            </a:pPr>
            <a:r>
              <a:t>THE STUDENT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984248"/>
            <a:ext cx="2980944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Academics, extracurriculars, wellbeing and campus responsibilities compete for attention.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Productivity tools are often isolated and built mainly for individual use.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Students need planning, peer accountability and campus access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417320"/>
            <a:ext cx="3383280" cy="4160520"/>
          </a:xfrm>
          <a:prstGeom prst="roundRect">
            <a:avLst/>
          </a:prstGeom>
          <a:solidFill>
            <a:srgbClr val="E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53128" y="1563624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32A37"/>
                </a:solidFill>
                <a:latin typeface="Aptos"/>
              </a:defRPr>
            </a:pPr>
            <a:r>
              <a:t>ZEPHYR'S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3128" y="1984248"/>
            <a:ext cx="2980944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Smart planner for tasks, deadlines and routines.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Encrypted peer study rooms with host-controlled synchronized timers.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Campus hub with simulated facility booking and QR passes.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Progress, streaks, coins and badges reinforce consistency.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417320"/>
            <a:ext cx="3383280" cy="4160520"/>
          </a:xfrm>
          <a:prstGeom prst="roundRect">
            <a:avLst/>
          </a:prstGeom>
          <a:solidFill>
            <a:srgbClr val="E7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0728" y="1563624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32A37"/>
                </a:solidFill>
                <a:latin typeface="Aptos"/>
              </a:defRPr>
            </a:pPr>
            <a:r>
              <a:t>KEY DIFFERENTIATORS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8" y="1984248"/>
            <a:ext cx="2980944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Client-side AES-256 encrypted study-room chat.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Offline cache for saved data.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Material 3 UI with system Dark/Light modes.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Dedicated student and administrator experiences.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59893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C6574"/>
                </a:solidFill>
                <a:latin typeface="Aptos"/>
              </a:defRPr>
            </a:pPr>
            <a: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232A37"/>
                </a:solidFill>
                <a:latin typeface="Aptos"/>
              </a:defRPr>
            </a:pPr>
            <a:r>
              <a:t>Core Experience &amp; Technical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96112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C6574"/>
                </a:solidFill>
                <a:latin typeface="Aptos"/>
              </a:defRPr>
            </a:pPr>
            <a:r>
              <a:t>Planning → focus → campus access → progress, supported by a local backend.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487168" cy="1234440"/>
          </a:xfrm>
          <a:prstGeom prst="roundRect">
            <a:avLst/>
          </a:prstGeom>
          <a:solidFill>
            <a:srgbClr val="E5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609344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32A37"/>
                </a:solidFill>
                <a:latin typeface="Aptos"/>
              </a:defRPr>
            </a:pPr>
            <a:r>
              <a:t>01 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947672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C6574"/>
                </a:solidFill>
                <a:latin typeface="Aptos"/>
              </a:defRPr>
            </a:pPr>
            <a:r>
              <a:t>Tasks, routines,</a:t>
            </a:r>
            <a:br/>
            <a:r>
              <a:t>academic goals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417320"/>
            <a:ext cx="2487168" cy="1234440"/>
          </a:xfrm>
          <a:prstGeom prst="roundRect">
            <a:avLst/>
          </a:prstGeom>
          <a:solidFill>
            <a:srgbClr val="E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609344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32A37"/>
                </a:solidFill>
                <a:latin typeface="Aptos"/>
              </a:defRPr>
            </a:pPr>
            <a:r>
              <a:t>02 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947672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C6574"/>
                </a:solidFill>
                <a:latin typeface="Aptos"/>
              </a:defRPr>
            </a:pPr>
            <a:r>
              <a:t>Study rooms +</a:t>
            </a:r>
            <a:br/>
            <a:r>
              <a:t>host-controlled timer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17336" y="1417320"/>
            <a:ext cx="2487168" cy="1234440"/>
          </a:xfrm>
          <a:prstGeom prst="roundRect">
            <a:avLst/>
          </a:prstGeom>
          <a:solidFill>
            <a:srgbClr val="E7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1609344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32A37"/>
                </a:solidFill>
                <a:latin typeface="Aptos"/>
              </a:defRPr>
            </a:pPr>
            <a:r>
              <a:t>03 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1947672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C6574"/>
                </a:solidFill>
                <a:latin typeface="Aptos"/>
              </a:defRPr>
            </a:pPr>
            <a:r>
              <a:t>Campus pods +</a:t>
            </a:r>
            <a:br/>
            <a:r>
              <a:t>mock QR booking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78824" y="1417320"/>
            <a:ext cx="2487168" cy="1234440"/>
          </a:xfrm>
          <a:prstGeom prst="roundRect">
            <a:avLst/>
          </a:prstGeom>
          <a:solidFill>
            <a:srgbClr val="E5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1609344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32A37"/>
                </a:solidFill>
                <a:latin typeface="Aptos"/>
              </a:defRPr>
            </a:pPr>
            <a:r>
              <a:t>04  GROW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3416" y="1947672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C6574"/>
                </a:solidFill>
                <a:latin typeface="Aptos"/>
              </a:defRPr>
            </a:pPr>
            <a:r>
              <a:t>Streaks, coins,</a:t>
            </a:r>
            <a:br/>
            <a:r>
              <a:t>badges &amp; metrics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926080"/>
            <a:ext cx="507492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072384"/>
            <a:ext cx="46725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32A37"/>
                </a:solidFill>
                <a:latin typeface="Aptos"/>
              </a:defRPr>
            </a:pPr>
            <a:r>
              <a:t>TECH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493008"/>
            <a:ext cx="4672583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Kotlin + Jetpack Compose (Material 3)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Python FastAPI backend with WebSockets / REST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SQLite for users, announcements and campus bookings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Local session storage and offline cache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2926080"/>
            <a:ext cx="530352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3072384"/>
            <a:ext cx="49011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32A37"/>
                </a:solidFill>
                <a:latin typeface="Aptos"/>
              </a:defRPr>
            </a:pPr>
            <a:r>
              <a:t>PRIVACY &amp;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3493008"/>
            <a:ext cx="4901183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Client encrypts study-room messages before network/database sync.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AES-256 key is derived from the 6-character room passkey.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Server relays ciphertext rather than plaintext chat content.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Role-based admin portal manages users, campus pods and alerts.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59893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C6574"/>
                </a:solidFill>
                <a:latin typeface="Aptos"/>
              </a:defRPr>
            </a:pPr>
            <a: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232A37"/>
                </a:solidFill>
                <a:latin typeface="Aptos"/>
              </a:defRPr>
            </a:pPr>
            <a:r>
              <a:t>References Used &amp; 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96112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5C6574"/>
                </a:solidFill>
                <a:latin typeface="Aptos"/>
              </a:defRPr>
            </a:pPr>
            <a:r>
              <a:t>Sources and technologies referenced in the Zephyr README.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5212080" cy="4343400"/>
          </a:xfrm>
          <a:prstGeom prst="roundRect">
            <a:avLst/>
          </a:prstGeom>
          <a:solidFill>
            <a:srgbClr val="E5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517904"/>
            <a:ext cx="48097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32A37"/>
                </a:solidFill>
                <a:latin typeface="Aptos"/>
              </a:defRPr>
            </a:pPr>
            <a:r>
              <a:t>OFFICIAL DOCUMENTATION &amp;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938528"/>
            <a:ext cx="4809744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Flutter Material 3 Specification — docs.flutter.dev/ui/design/material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Firebase Realtime Database — pub.dev/packages/firebase_database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Dart Encrypt Library — pub.dev/packages/encrypt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Flutter Secure Storage — pub.dev/packages/flutter_secure_storage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URL Launcher — pub.dev/packages/url_launcher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371600"/>
            <a:ext cx="5212080" cy="4343400"/>
          </a:xfrm>
          <a:prstGeom prst="roundRect">
            <a:avLst/>
          </a:prstGeom>
          <a:solidFill>
            <a:srgbClr val="EB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517904"/>
            <a:ext cx="48097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32A37"/>
                </a:solidFill>
                <a:latin typeface="Aptos"/>
              </a:defRPr>
            </a:pPr>
            <a:r>
              <a:t>TECHNOLOGY &amp; TEAM CREDITS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28" y="1938528"/>
            <a:ext cx="4809744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Kotlin + Jetpack Compose — application framework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Material 3 / Material You — UI design system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Python FastAPI + SQLite — local backend and data layer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AES-256 / encrypt — client-side study-room encryption</a:t>
            </a:r>
          </a:p>
          <a:p>
            <a:pPr>
              <a:spcAft>
                <a:spcPts val="800"/>
              </a:spcAft>
              <a:defRPr sz="1250">
                <a:solidFill>
                  <a:srgbClr val="5C6574"/>
                </a:solidFill>
                <a:latin typeface="Aptos"/>
              </a:defRPr>
            </a:pPr>
            <a:r>
              <a:t>• Zephyr team — concept, implementation and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97880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5C6574"/>
                </a:solidFill>
                <a:latin typeface="Aptos"/>
              </a:defRPr>
            </a:pPr>
            <a:r>
              <a:t>Sources are documented in the project's README and About &amp; Verified Sources screen.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59893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C6574"/>
                </a:solidFill>
                <a:latin typeface="Aptos"/>
              </a:defRPr>
            </a:pPr>
            <a:r>
              <a:t>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