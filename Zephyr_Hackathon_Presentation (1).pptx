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274320"/>
            <a:ext cx="1188720" cy="1188720"/>
          </a:xfrm>
          <a:prstGeom prst="ellipse">
            <a:avLst/>
          </a:prstGeom>
          <a:solidFill>
            <a:srgbClr val="E8DEF8"/>
          </a:solidFill>
          <a:ln>
            <a:solidFill>
              <a:srgbClr val="E8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914400"/>
            <a:ext cx="640080" cy="640080"/>
          </a:xfrm>
          <a:prstGeom prst="ellipse">
            <a:avLst/>
          </a:prstGeom>
          <a:solidFill>
            <a:srgbClr val="D1E7DD"/>
          </a:solidFill>
          <a:ln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5303520"/>
            <a:ext cx="914400" cy="914400"/>
          </a:xfrm>
          <a:prstGeom prst="ellipse">
            <a:avLst/>
          </a:prstGeom>
          <a:solidFill>
            <a:srgbClr val="FAE0CD"/>
          </a:solidFill>
          <a:ln>
            <a:solidFill>
              <a:srgbClr val="FAE0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0" b="1">
                <a:solidFill>
                  <a:srgbClr val="5B497A"/>
                </a:solidFill>
              </a:defRPr>
            </a:pPr>
            <a:r>
              <a:t>ZEPHYR</a:t>
            </a:r>
          </a:p>
          <a:p>
            <a:pPr>
              <a:defRPr sz="2400" b="1">
                <a:solidFill>
                  <a:srgbClr val="27242C"/>
                </a:solidFill>
              </a:defRPr>
            </a:pPr>
            <a:r>
              <a:t>Student Wellbeing &amp; Productivity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7040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7242C"/>
                </a:solidFill>
              </a:defRPr>
            </a:pPr>
            <a:r>
              <a:t>Plan smarter. Study together. Access campus resources.</a:t>
            </a:r>
          </a:p>
          <a:p>
            <a:pPr>
              <a:defRPr sz="1300">
                <a:solidFill>
                  <a:srgbClr val="65606E"/>
                </a:solidFill>
              </a:defRPr>
            </a:pPr>
            <a:r>
              <a:t>A cross-platform Flutter app built for the App Development Hackathon.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886200"/>
            <a:ext cx="2057400" cy="1234440"/>
          </a:xfrm>
          <a:prstGeom prst="roundRect">
            <a:avLst/>
          </a:prstGeom>
          <a:solidFill>
            <a:srgbClr val="E8DEF8"/>
          </a:solidFill>
          <a:ln>
            <a:solidFill>
              <a:srgbClr val="E8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>
              <a:spcAft>
                <a:spcPts val="700"/>
              </a:spcAft>
              <a:defRPr sz="1500" b="1">
                <a:solidFill>
                  <a:srgbClr val="5B497A"/>
                </a:solidFill>
              </a:defRPr>
            </a:pPr>
            <a:r>
              <a:t>PLAN</a:t>
            </a:r>
          </a:p>
          <a:p>
            <a:pPr>
              <a:spcAft>
                <a:spcPts val="0"/>
              </a:spcAft>
              <a:defRPr sz="1150">
                <a:solidFill>
                  <a:srgbClr val="27242C"/>
                </a:solidFill>
              </a:defRPr>
            </a:pPr>
            <a:r>
              <a:t>Tasks • routines • goals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3886200"/>
            <a:ext cx="2057400" cy="1234440"/>
          </a:xfrm>
          <a:prstGeom prst="roundRect">
            <a:avLst/>
          </a:prstGeom>
          <a:solidFill>
            <a:srgbClr val="D1E7DD"/>
          </a:solidFill>
          <a:ln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>
              <a:spcAft>
                <a:spcPts val="700"/>
              </a:spcAft>
              <a:defRPr sz="1500" b="1">
                <a:solidFill>
                  <a:srgbClr val="5B497A"/>
                </a:solidFill>
              </a:defRPr>
            </a:pPr>
            <a:r>
              <a:t>COLLABORATE</a:t>
            </a:r>
          </a:p>
          <a:p>
            <a:pPr>
              <a:spcAft>
                <a:spcPts val="0"/>
              </a:spcAft>
              <a:defRPr sz="1150">
                <a:solidFill>
                  <a:srgbClr val="27242C"/>
                </a:solidFill>
              </a:defRPr>
            </a:pPr>
            <a:r>
              <a:t>Private study rooms • Pomodoro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3886200"/>
            <a:ext cx="2057400" cy="1234440"/>
          </a:xfrm>
          <a:prstGeom prst="roundRect">
            <a:avLst/>
          </a:prstGeom>
          <a:solidFill>
            <a:srgbClr val="FAE0CD"/>
          </a:solidFill>
          <a:ln>
            <a:solidFill>
              <a:srgbClr val="FAE0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>
              <a:spcAft>
                <a:spcPts val="700"/>
              </a:spcAft>
              <a:defRPr sz="1500" b="1">
                <a:solidFill>
                  <a:srgbClr val="5B497A"/>
                </a:solidFill>
              </a:defRPr>
            </a:pPr>
            <a:r>
              <a:t>DISCOVER</a:t>
            </a:r>
          </a:p>
          <a:p>
            <a:pPr>
              <a:spcAft>
                <a:spcPts val="0"/>
              </a:spcAft>
              <a:defRPr sz="1150">
                <a:solidFill>
                  <a:srgbClr val="27242C"/>
                </a:solidFill>
              </a:defRPr>
            </a:pPr>
            <a:r>
              <a:t>Campus resources • mock booking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9788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497A"/>
                </a:solidFill>
              </a:defRPr>
            </a:pPr>
            <a:r>
              <a:t>Material 3 • Offline-first • Privacy-focused • Gamified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5606E"/>
                </a:solidFill>
              </a:defRPr>
            </a:pPr>
            <a:r>
              <a:t>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7242C"/>
                </a:solidFill>
              </a:defRPr>
            </a:pPr>
            <a:r>
              <a:t>The Problem → One Student-Centered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5606E"/>
                </a:solidFill>
              </a:defRPr>
            </a:pPr>
            <a:r>
              <a:t>Zephyr unifies fragmented student workflows into one engaging ecosystem.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29000" cy="4389120"/>
          </a:xfrm>
          <a:prstGeom prst="roundRect">
            <a:avLst/>
          </a:prstGeom>
          <a:solidFill>
            <a:srgbClr val="FAE0CD"/>
          </a:solidFill>
          <a:ln>
            <a:solidFill>
              <a:srgbClr val="FAE0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>
              <a:spcAft>
                <a:spcPts val="700"/>
              </a:spcAft>
              <a:defRPr sz="1600" b="1">
                <a:solidFill>
                  <a:srgbClr val="5B497A"/>
                </a:solidFill>
              </a:defRPr>
            </a:pPr>
            <a:r>
              <a:t>THE STUDENT PROBLEM</a:t>
            </a:r>
          </a:p>
          <a:p>
            <a:pPr>
              <a:spcAft>
                <a:spcPts val="0"/>
              </a:spcAft>
              <a:defRPr sz="1300">
                <a:solidFill>
                  <a:srgbClr val="27242C"/>
                </a:solidFill>
              </a:defRPr>
            </a:pPr>
            <a:r>
              <a:t>• Academics, extracurriculars, wellbeing and campus responsibilities compete for attention.</a:t>
            </a:r>
            <a:br/>
            <a:br/>
            <a:r>
              <a:t>• Existing productivity tools are often isolated and built for individual use.</a:t>
            </a:r>
            <a:br/>
            <a:br/>
            <a:r>
              <a:t>• Students need planning + peer accountability + campus access in one place.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17320"/>
            <a:ext cx="3429000" cy="4389120"/>
          </a:xfrm>
          <a:prstGeom prst="roundRect">
            <a:avLst/>
          </a:prstGeom>
          <a:solidFill>
            <a:srgbClr val="D1E7DD"/>
          </a:solidFill>
          <a:ln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>
              <a:spcAft>
                <a:spcPts val="700"/>
              </a:spcAft>
              <a:defRPr sz="1600" b="1">
                <a:solidFill>
                  <a:srgbClr val="5B497A"/>
                </a:solidFill>
              </a:defRPr>
            </a:pPr>
            <a:r>
              <a:t>ZEPHYR'S APPROACH</a:t>
            </a:r>
          </a:p>
          <a:p>
            <a:pPr>
              <a:spcAft>
                <a:spcPts val="0"/>
              </a:spcAft>
              <a:defRPr sz="1300">
                <a:solidFill>
                  <a:srgbClr val="27242C"/>
                </a:solidFill>
              </a:defRPr>
            </a:pPr>
            <a:r>
              <a:t>• Smart planner for tasks, deadlines and routines</a:t>
            </a:r>
            <a:br/>
            <a:br/>
            <a:r>
              <a:t>• Collaborative study rooms with synchronized 25-minute focus sessions</a:t>
            </a:r>
            <a:br/>
            <a:br/>
            <a:r>
              <a:t>• Campus hub + simulated facility booking</a:t>
            </a:r>
            <a:br/>
            <a:br/>
            <a:r>
              <a:t>• Progress, streaks, coins and badges to reinforce consistency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17320"/>
            <a:ext cx="3429000" cy="4389120"/>
          </a:xfrm>
          <a:prstGeom prst="roundRect">
            <a:avLst/>
          </a:prstGeom>
          <a:solidFill>
            <a:srgbClr val="E8DEF8"/>
          </a:solidFill>
          <a:ln>
            <a:solidFill>
              <a:srgbClr val="E8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>
              <a:spcAft>
                <a:spcPts val="700"/>
              </a:spcAft>
              <a:defRPr sz="1600" b="1">
                <a:solidFill>
                  <a:srgbClr val="5B497A"/>
                </a:solidFill>
              </a:defRPr>
            </a:pPr>
            <a:r>
              <a:t>WHAT MAKES IT DIFFERENT</a:t>
            </a:r>
          </a:p>
          <a:p>
            <a:pPr>
              <a:spcAft>
                <a:spcPts val="0"/>
              </a:spcAft>
              <a:defRPr sz="1300">
                <a:solidFill>
                  <a:srgbClr val="27242C"/>
                </a:solidFill>
              </a:defRPr>
            </a:pPr>
            <a:r>
              <a:t>• Client-side AES-256 encrypted study-room chat</a:t>
            </a:r>
            <a:br/>
            <a:br/>
            <a:r>
              <a:t>• Offline persistence for schedules/resources</a:t>
            </a:r>
            <a:br/>
            <a:br/>
            <a:r>
              <a:t>• Material 3 pastel UI with system Dark/Light mode</a:t>
            </a:r>
            <a:br/>
            <a:br/>
            <a:r>
              <a:t>• Admin tools designed for fast, reliable hackathon demos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5606E"/>
                </a:solidFill>
              </a:defRPr>
            </a:pPr>
            <a:r>
              <a:t>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7242C"/>
                </a:solidFill>
              </a:defRPr>
            </a:pPr>
            <a:r>
              <a:t>Core Experience &amp; Technical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5606E"/>
                </a:solidFill>
              </a:defRPr>
            </a:pPr>
            <a:r>
              <a:t>A focused workflow from planning → studying → campus access → progress.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606040" cy="1737360"/>
          </a:xfrm>
          <a:prstGeom prst="roundRect">
            <a:avLst/>
          </a:prstGeom>
          <a:solidFill>
            <a:srgbClr val="E8DEF8"/>
          </a:solidFill>
          <a:ln>
            <a:solidFill>
              <a:srgbClr val="E8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>
              <a:spcAft>
                <a:spcPts val="700"/>
              </a:spcAft>
              <a:defRPr sz="1500" b="1">
                <a:solidFill>
                  <a:srgbClr val="5B497A"/>
                </a:solidFill>
              </a:defRPr>
            </a:pPr>
            <a:r>
              <a:t>01  PLAN</a:t>
            </a:r>
          </a:p>
          <a:p>
            <a:pPr>
              <a:spcAft>
                <a:spcPts val="0"/>
              </a:spcAft>
              <a:defRPr sz="1150">
                <a:solidFill>
                  <a:srgbClr val="27242C"/>
                </a:solidFill>
              </a:defRPr>
            </a:pPr>
            <a:r>
              <a:t>Tasks, routines,</a:t>
            </a:r>
            <a:br/>
            <a:r>
              <a:t>academic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17320"/>
            <a:ext cx="2606040" cy="1737360"/>
          </a:xfrm>
          <a:prstGeom prst="roundRect">
            <a:avLst/>
          </a:prstGeom>
          <a:solidFill>
            <a:srgbClr val="D1E7DD"/>
          </a:solidFill>
          <a:ln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>
              <a:spcAft>
                <a:spcPts val="700"/>
              </a:spcAft>
              <a:defRPr sz="1500" b="1">
                <a:solidFill>
                  <a:srgbClr val="5B497A"/>
                </a:solidFill>
              </a:defRPr>
            </a:pPr>
            <a:r>
              <a:t>02  FOCUS</a:t>
            </a:r>
          </a:p>
          <a:p>
            <a:pPr>
              <a:spcAft>
                <a:spcPts val="0"/>
              </a:spcAft>
              <a:defRPr sz="1150">
                <a:solidFill>
                  <a:srgbClr val="27242C"/>
                </a:solidFill>
              </a:defRPr>
            </a:pPr>
            <a:r>
              <a:t>25-min shared</a:t>
            </a:r>
            <a:br/>
            <a:r>
              <a:t>Pomodoro rooms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2606040" cy="1737360"/>
          </a:xfrm>
          <a:prstGeom prst="roundRect">
            <a:avLst/>
          </a:prstGeom>
          <a:solidFill>
            <a:srgbClr val="FAE0CD"/>
          </a:solidFill>
          <a:ln>
            <a:solidFill>
              <a:srgbClr val="FAE0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>
              <a:spcAft>
                <a:spcPts val="700"/>
              </a:spcAft>
              <a:defRPr sz="1500" b="1">
                <a:solidFill>
                  <a:srgbClr val="5B497A"/>
                </a:solidFill>
              </a:defRPr>
            </a:pPr>
            <a:r>
              <a:t>03  ACCESS</a:t>
            </a:r>
          </a:p>
          <a:p>
            <a:pPr>
              <a:spcAft>
                <a:spcPts val="0"/>
              </a:spcAft>
              <a:defRPr sz="1150">
                <a:solidFill>
                  <a:srgbClr val="27242C"/>
                </a:solidFill>
              </a:defRPr>
            </a:pPr>
            <a:r>
              <a:t>Campus links +</a:t>
            </a:r>
            <a:br/>
            <a:r>
              <a:t>mock QR booking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417320"/>
            <a:ext cx="2606040" cy="1737360"/>
          </a:xfrm>
          <a:prstGeom prst="roundRect">
            <a:avLst/>
          </a:prstGeom>
          <a:solidFill>
            <a:srgbClr val="E8DEF8"/>
          </a:solidFill>
          <a:ln>
            <a:solidFill>
              <a:srgbClr val="E8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>
              <a:spcAft>
                <a:spcPts val="700"/>
              </a:spcAft>
              <a:defRPr sz="1500" b="1">
                <a:solidFill>
                  <a:srgbClr val="5B497A"/>
                </a:solidFill>
              </a:defRPr>
            </a:pPr>
            <a:r>
              <a:t>04  GROW</a:t>
            </a:r>
          </a:p>
          <a:p>
            <a:pPr>
              <a:spcAft>
                <a:spcPts val="0"/>
              </a:spcAft>
              <a:defRPr sz="1150">
                <a:solidFill>
                  <a:srgbClr val="27242C"/>
                </a:solidFill>
              </a:defRPr>
            </a:pPr>
            <a:r>
              <a:t>Scores, streaks,</a:t>
            </a:r>
            <a:br/>
            <a:r>
              <a:t>coins &amp; badges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20440"/>
            <a:ext cx="53492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>
              <a:spcAft>
                <a:spcPts val="700"/>
              </a:spcAft>
              <a:defRPr sz="1500" b="1">
                <a:solidFill>
                  <a:srgbClr val="5B497A"/>
                </a:solidFill>
              </a:defRPr>
            </a:pPr>
            <a:r>
              <a:t>TECH STACK</a:t>
            </a:r>
          </a:p>
          <a:p>
            <a:pPr>
              <a:spcAft>
                <a:spcPts val="0"/>
              </a:spcAft>
              <a:defRPr sz="1100">
                <a:solidFill>
                  <a:srgbClr val="27242C"/>
                </a:solidFill>
              </a:defRPr>
            </a:pPr>
            <a:r>
              <a:t>Flutter + Dart • Material 3</a:t>
            </a:r>
            <a:br/>
            <a:r>
              <a:t>Firebase Realtime Database for real-time synchronization</a:t>
            </a:r>
            <a:br/>
            <a:r>
              <a:t>flutter_secure_storage for secure local session storage</a:t>
            </a:r>
            <a:br/>
            <a:r>
              <a:t>encrypt library for client-side AES-256 chat encryption</a:t>
            </a:r>
            <a:br/>
            <a:r>
              <a:t>URL Launcher / Custom Tabs for campus resources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520440"/>
            <a:ext cx="53035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>
              <a:spcAft>
                <a:spcPts val="700"/>
              </a:spcAft>
              <a:defRPr sz="1500" b="1">
                <a:solidFill>
                  <a:srgbClr val="5B497A"/>
                </a:solidFill>
              </a:defRPr>
            </a:pPr>
            <a:r>
              <a:t>PRIVACY &amp; ARCHITECTURE</a:t>
            </a:r>
          </a:p>
          <a:p>
            <a:pPr>
              <a:spcAft>
                <a:spcPts val="0"/>
              </a:spcAft>
              <a:defRPr sz="1100">
                <a:solidFill>
                  <a:srgbClr val="27242C"/>
                </a:solidFill>
              </a:defRPr>
            </a:pPr>
            <a:r>
              <a:t>• Chat messages are encrypted on the client before network/database sync.</a:t>
            </a:r>
            <a:br/>
            <a:r>
              <a:t>• Matching room passkey is required for peer decryption.</a:t>
            </a:r>
            <a:br/>
            <a:r>
              <a:t>• Offline cache supports continued access to saved data.</a:t>
            </a:r>
            <a:br/>
            <a:r>
              <a:t>• Modular providers separate auth, planner, rooms, themes and campus flows.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5606E"/>
                </a:solidFill>
              </a:defRPr>
            </a:pPr>
            <a:r>
              <a:t>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>
              <a:defRPr sz="2700" b="1">
                <a:solidFill>
                  <a:srgbClr val="27242C"/>
                </a:solidFill>
              </a:defRPr>
            </a:pPr>
            <a:r>
              <a:t>References Used &amp; 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>
              <a:defRPr sz="1250" b="0">
                <a:solidFill>
                  <a:srgbClr val="65606E"/>
                </a:solidFill>
              </a:defRPr>
            </a:pPr>
            <a:r>
              <a:t>Sources and technologies referenced in the Zephyr README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49240" cy="4251960"/>
          </a:xfrm>
          <a:prstGeom prst="roundRect">
            <a:avLst/>
          </a:prstGeom>
          <a:solidFill>
            <a:srgbClr val="E8DEF8"/>
          </a:solidFill>
          <a:ln>
            <a:solidFill>
              <a:srgbClr val="E8D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37160"/>
          <a:lstStyle/>
          <a:p>
            <a:pPr algn="ctr">
              <a:spcAft>
                <a:spcPts val="800"/>
              </a:spcAft>
              <a:defRPr sz="1500" b="1">
                <a:solidFill>
                  <a:srgbClr val="5B497A"/>
                </a:solidFill>
              </a:defRPr>
            </a:pPr>
            <a:r>
              <a:t>OFFICIAL DOCUMENTATION &amp; REFERENCES</a:t>
            </a:r>
          </a:p>
          <a:p>
            <a:pPr>
              <a:spcAft>
                <a:spcPts val="400"/>
              </a:spcAft>
              <a:defRPr sz="1150">
                <a:solidFill>
                  <a:srgbClr val="27242C"/>
                </a:solidFill>
              </a:defRPr>
            </a:pPr>
            <a:r>
              <a:t>• Flutter Material 3 Specification</a:t>
            </a:r>
          </a:p>
          <a:p>
            <a:pPr>
              <a:spcAft>
                <a:spcPts val="400"/>
              </a:spcAft>
              <a:defRPr sz="1150">
                <a:solidFill>
                  <a:srgbClr val="27242C"/>
                </a:solidFill>
              </a:defRPr>
            </a:pPr>
            <a:r>
              <a:t>  docs.flutter.dev/ui/design/material</a:t>
            </a:r>
          </a:p>
          <a:p>
            <a:pPr>
              <a:spcAft>
                <a:spcPts val="400"/>
              </a:spcAft>
              <a:defRPr sz="1150">
                <a:solidFill>
                  <a:srgbClr val="27242C"/>
                </a:solidFill>
              </a:defRPr>
            </a:pPr>
            <a:r>
              <a:t>• Firebase Realtime Database</a:t>
            </a:r>
          </a:p>
          <a:p>
            <a:pPr>
              <a:spcAft>
                <a:spcPts val="400"/>
              </a:spcAft>
              <a:defRPr sz="1150">
                <a:solidFill>
                  <a:srgbClr val="27242C"/>
                </a:solidFill>
              </a:defRPr>
            </a:pPr>
            <a:r>
              <a:t>  pub.dev/packages/firebase_database</a:t>
            </a:r>
          </a:p>
          <a:p>
            <a:pPr>
              <a:spcAft>
                <a:spcPts val="400"/>
              </a:spcAft>
              <a:defRPr sz="1150">
                <a:solidFill>
                  <a:srgbClr val="27242C"/>
                </a:solidFill>
              </a:defRPr>
            </a:pPr>
            <a:r>
              <a:t>• Dart Encrypt Library</a:t>
            </a:r>
          </a:p>
          <a:p>
            <a:pPr>
              <a:spcAft>
                <a:spcPts val="400"/>
              </a:spcAft>
              <a:defRPr sz="1150">
                <a:solidFill>
                  <a:srgbClr val="27242C"/>
                </a:solidFill>
              </a:defRPr>
            </a:pPr>
            <a:r>
              <a:t>  pub.dev/packages/encrypt</a:t>
            </a:r>
          </a:p>
          <a:p>
            <a:pPr>
              <a:spcAft>
                <a:spcPts val="400"/>
              </a:spcAft>
              <a:defRPr sz="1150">
                <a:solidFill>
                  <a:srgbClr val="27242C"/>
                </a:solidFill>
              </a:defRPr>
            </a:pPr>
            <a:r>
              <a:t>• Flutter Secure Storage</a:t>
            </a:r>
          </a:p>
          <a:p>
            <a:pPr>
              <a:spcAft>
                <a:spcPts val="400"/>
              </a:spcAft>
              <a:defRPr sz="1150">
                <a:solidFill>
                  <a:srgbClr val="27242C"/>
                </a:solidFill>
              </a:defRPr>
            </a:pPr>
            <a:r>
              <a:t>  pub.dev/packages/flutter_secure_storage</a:t>
            </a:r>
          </a:p>
          <a:p>
            <a:pPr>
              <a:spcAft>
                <a:spcPts val="400"/>
              </a:spcAft>
              <a:defRPr sz="1150">
                <a:solidFill>
                  <a:srgbClr val="27242C"/>
                </a:solidFill>
              </a:defRPr>
            </a:pPr>
            <a:r>
              <a:t>• URL Launcher</a:t>
            </a:r>
          </a:p>
          <a:p>
            <a:pPr>
              <a:spcAft>
                <a:spcPts val="400"/>
              </a:spcAft>
              <a:defRPr sz="1150">
                <a:solidFill>
                  <a:srgbClr val="27242C"/>
                </a:solidFill>
              </a:defRPr>
            </a:pPr>
            <a:r>
              <a:t>  pub.dev/packages/url_launcher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49240" cy="4251960"/>
          </a:xfrm>
          <a:prstGeom prst="roundRect">
            <a:avLst/>
          </a:prstGeom>
          <a:solidFill>
            <a:srgbClr val="D1E7DD"/>
          </a:solidFill>
          <a:ln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37160"/>
          <a:lstStyle/>
          <a:p>
            <a:pPr algn="ctr">
              <a:spcAft>
                <a:spcPts val="800"/>
              </a:spcAft>
              <a:defRPr sz="1500" b="1">
                <a:solidFill>
                  <a:srgbClr val="5B497A"/>
                </a:solidFill>
              </a:defRPr>
            </a:pPr>
            <a:r>
              <a:t>TECHNOLOGY CREDITS</a:t>
            </a:r>
          </a:p>
          <a:p>
            <a:pPr>
              <a:spcAft>
                <a:spcPts val="400"/>
              </a:spcAft>
              <a:defRPr sz="1150">
                <a:solidFill>
                  <a:srgbClr val="27242C"/>
                </a:solidFill>
              </a:defRPr>
            </a:pPr>
            <a:r>
              <a:t>• Flutter &amp; Dart — cross-platform application framework</a:t>
            </a:r>
          </a:p>
          <a:p>
            <a:pPr>
              <a:spcAft>
                <a:spcPts val="400"/>
              </a:spcAft>
              <a:defRPr sz="1150">
                <a:solidFill>
                  <a:srgbClr val="27242C"/>
                </a:solidFill>
              </a:defRPr>
            </a:pPr>
            <a:r>
              <a:t>• Material 3 / Material You — UI design system</a:t>
            </a:r>
          </a:p>
          <a:p>
            <a:pPr>
              <a:spcAft>
                <a:spcPts val="400"/>
              </a:spcAft>
              <a:defRPr sz="1150">
                <a:solidFill>
                  <a:srgbClr val="27242C"/>
                </a:solidFill>
              </a:defRPr>
            </a:pPr>
            <a:r>
              <a:t>• Firebase Realtime Database — real-time synchronization</a:t>
            </a:r>
          </a:p>
          <a:p>
            <a:pPr>
              <a:spcAft>
                <a:spcPts val="400"/>
              </a:spcAft>
              <a:defRPr sz="1150">
                <a:solidFill>
                  <a:srgbClr val="27242C"/>
                </a:solidFill>
              </a:defRPr>
            </a:pPr>
            <a:r>
              <a:t>• encrypt — AES-256 client-side encryption</a:t>
            </a:r>
          </a:p>
          <a:p>
            <a:pPr>
              <a:spcAft>
                <a:spcPts val="400"/>
              </a:spcAft>
              <a:defRPr sz="1150">
                <a:solidFill>
                  <a:srgbClr val="27242C"/>
                </a:solidFill>
              </a:defRPr>
            </a:pPr>
            <a:r>
              <a:t>• flutter_secure_storage — secure session/token storage</a:t>
            </a:r>
          </a:p>
          <a:p>
            <a:pPr>
              <a:spcAft>
                <a:spcPts val="400"/>
              </a:spcAft>
              <a:defRPr sz="1150">
                <a:solidFill>
                  <a:srgbClr val="27242C"/>
                </a:solidFill>
              </a:defRPr>
            </a:pPr>
            <a:r>
              <a:t>• URL Launcher — in-app campus resource links</a:t>
            </a:r>
          </a:p>
          <a:p>
            <a:pPr>
              <a:spcAft>
                <a:spcPts val="400"/>
              </a:spcAft>
              <a:defRPr sz="1150">
                <a:solidFill>
                  <a:srgbClr val="27242C"/>
                </a:solidFill>
              </a:defRPr>
            </a:pPr>
            <a:r>
              <a:t>• Zephyr team — application concept, implementation &amp;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943600"/>
            <a:ext cx="10789920" cy="3200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>
              <a:defRPr sz="1150" b="1">
                <a:solidFill>
                  <a:srgbClr val="5B497A"/>
                </a:solidFill>
              </a:defRPr>
            </a:pPr>
            <a:r>
              <a:t>Sources listed above are documented in the project's README and About &amp; Verified Sources screen.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>
              <a:defRPr sz="900" b="0">
                <a:solidFill>
                  <a:srgbClr val="65606E"/>
                </a:solidFill>
              </a:defRPr>
            </a:pPr>
            <a:r>
              <a:t>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